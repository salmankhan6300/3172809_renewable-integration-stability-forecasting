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F847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RF Classifier</c:v>
                </c:pt>
                <c:pt idx="1">
                  <c:v>GBT Classifier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7BA-4DDC-AA7F-7D79E2D26D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238"/>
          </a:solidFill>
          <a:ln>
            <a:solidFill>
              <a:srgbClr val="1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78638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Distributed Renewable Integration Stability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694944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DDEBF0"/>
                </a:solidFill>
              </a:defRPr>
            </a:pPr>
            <a:r>
              <a:t>Final demo presentation: NASA POWER weather data, RVSI stability risk, and an interactive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840480"/>
            <a:ext cx="1508760" cy="841248"/>
          </a:xfrm>
          <a:prstGeom prst="roundRect">
            <a:avLst>
              <a:gd name="adj" fmla="val 8000"/>
            </a:avLst>
          </a:prstGeom>
          <a:solidFill>
            <a:srgbClr val="4E97C4"/>
          </a:solidFill>
          <a:ln>
            <a:solidFill>
              <a:srgbClr val="4E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~89k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hourly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3840480"/>
            <a:ext cx="1508760" cy="841248"/>
          </a:xfrm>
          <a:prstGeom prst="roundRect">
            <a:avLst>
              <a:gd name="adj" fmla="val 8000"/>
            </a:avLst>
          </a:prstGeom>
          <a:solidFill>
            <a:srgbClr val="EFA837"/>
          </a:solidFill>
          <a:ln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10 yrs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2015-2025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3840480"/>
            <a:ext cx="1508760" cy="841248"/>
          </a:xfrm>
          <a:prstGeom prst="roundRect">
            <a:avLst>
              <a:gd name="adj" fmla="val 8000"/>
            </a:avLst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4</a:t>
            </a:r>
          </a:p>
          <a:p>
            <a:pPr algn="ctr">
              <a:defRPr sz="900">
                <a:solidFill>
                  <a:srgbClr val="FFFFFF"/>
                </a:solidFill>
                <a:latin typeface="Aptos"/>
              </a:defRPr>
            </a:pPr>
            <a:r>
              <a:t>risk classes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8"/>
                </a:solidFill>
                <a:latin typeface="Aptos Display"/>
              </a:defRPr>
            </a:pPr>
            <a:r>
              <a:t>Background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C79"/>
                </a:solidFill>
                <a:latin typeface="Aptos"/>
              </a:defRPr>
            </a:pPr>
            <a:r>
              <a:t>Renewable energy is clean, but its output is weather-driven and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49834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72D35"/>
                </a:solidFill>
                <a:latin typeface="Aptos"/>
              </a:defRPr>
            </a:pPr>
            <a:r>
              <a:t>• Wind speed and solar irradiance can change sharply within hours.</a:t>
            </a:r>
          </a:p>
          <a:p>
            <a:pPr>
              <a:spcAft>
                <a:spcPts val="800"/>
              </a:spcAft>
              <a:defRPr sz="1600">
                <a:solidFill>
                  <a:srgbClr val="272D35"/>
                </a:solidFill>
                <a:latin typeface="Aptos"/>
              </a:defRPr>
            </a:pPr>
            <a:r>
              <a:t>• Grid operators need early warning before renewable volatility becomes instability.</a:t>
            </a:r>
          </a:p>
          <a:p>
            <a:pPr>
              <a:spcAft>
                <a:spcPts val="800"/>
              </a:spcAft>
              <a:defRPr sz="1600">
                <a:solidFill>
                  <a:srgbClr val="272D35"/>
                </a:solidFill>
                <a:latin typeface="Aptos"/>
              </a:defRPr>
            </a:pPr>
            <a:r>
              <a:t>• Northern Ireland is a strong case study because wind generation is important to the grid.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3977639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C64646"/>
                </a:solidFill>
                <a:latin typeface="Aptos"/>
              </a:defRPr>
            </a:pPr>
            <a:r>
              <a:t>Impact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imbalance and frequency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3977639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EFA837"/>
                </a:solidFill>
                <a:latin typeface="Aptos"/>
              </a:defRPr>
            </a:pPr>
            <a:r>
              <a:t>Need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fast stability risk signal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28032" y="3977639"/>
            <a:ext cx="1691640" cy="960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1F8476"/>
                </a:solidFill>
                <a:latin typeface="Aptos"/>
              </a:defRPr>
            </a:pPr>
            <a:r>
              <a:t>Output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Low to Critical risk class</a:t>
            </a:r>
          </a:p>
        </p:txBody>
      </p:sp>
      <p:pic>
        <p:nvPicPr>
          <p:cNvPr id="8" name="Picture 7" descr="04_time_seri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4892040" cy="2240280"/>
          </a:xfrm>
          <a:prstGeom prst="rect">
            <a:avLst/>
          </a:prstGeom>
        </p:spPr>
      </p:pic>
      <p:pic>
        <p:nvPicPr>
          <p:cNvPr id="9" name="Picture 8" descr="05_hourly_patter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3794760"/>
            <a:ext cx="4517136" cy="1600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8"/>
                </a:solidFill>
                <a:latin typeface="Aptos Display"/>
              </a:defRPr>
            </a:pPr>
            <a:r>
              <a:t>Concept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C79"/>
                </a:solidFill>
                <a:latin typeface="Aptos"/>
              </a:defRPr>
            </a:pPr>
            <a:r>
              <a:t>Convert weather observations into a practical grid-stability warning signal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920240"/>
            <a:ext cx="1508760" cy="777240"/>
          </a:xfrm>
          <a:prstGeom prst="roundRect">
            <a:avLst>
              <a:gd name="adj" fmla="val 9000"/>
            </a:avLst>
          </a:prstGeom>
          <a:solidFill>
            <a:srgbClr val="4E97C4"/>
          </a:solidFill>
          <a:ln>
            <a:solidFill>
              <a:srgbClr val="4E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Weather</a:t>
            </a:r>
            <a:br/>
            <a:r>
              <a:t>variables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67128" y="2304288"/>
            <a:ext cx="59436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88920" y="1920240"/>
            <a:ext cx="1508760" cy="777240"/>
          </a:xfrm>
          <a:prstGeom prst="roundRect">
            <a:avLst>
              <a:gd name="adj" fmla="val 9000"/>
            </a:avLst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WPI + SII</a:t>
            </a:r>
            <a:br/>
            <a:r>
              <a:t>indices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0" y="2304288"/>
            <a:ext cx="59436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19472" y="1920240"/>
            <a:ext cx="1508760" cy="777240"/>
          </a:xfrm>
          <a:prstGeom prst="roundRect">
            <a:avLst>
              <a:gd name="adj" fmla="val 9000"/>
            </a:avLst>
          </a:prstGeom>
          <a:solidFill>
            <a:srgbClr val="EFA837"/>
          </a:solidFill>
          <a:ln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RVSI</a:t>
            </a:r>
            <a:br/>
            <a:r>
              <a:t>metric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28232" y="2304288"/>
            <a:ext cx="59436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050024" y="1920240"/>
            <a:ext cx="1508760" cy="777240"/>
          </a:xfrm>
          <a:prstGeom prst="roundRect">
            <a:avLst>
              <a:gd name="adj" fmla="val 9000"/>
            </a:avLst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ML / time</a:t>
            </a:r>
            <a:br/>
            <a:r>
              <a:t>series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58784" y="2304288"/>
            <a:ext cx="59436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80576" y="1920240"/>
            <a:ext cx="1508760" cy="777240"/>
          </a:xfrm>
          <a:prstGeom prst="roundRect">
            <a:avLst>
              <a:gd name="adj" fmla="val 9000"/>
            </a:avLst>
          </a:prstGeom>
          <a:solidFill>
            <a:srgbClr val="122238"/>
          </a:solidFill>
          <a:ln>
            <a:solidFill>
              <a:srgbClr val="1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Risk +</a:t>
            </a:r>
            <a:br/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F8476"/>
                </a:solidFill>
                <a:latin typeface="Aptos"/>
              </a:defRPr>
            </a:pPr>
            <a:r>
              <a:t>Main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72D35"/>
                </a:solidFill>
                <a:latin typeface="Aptos"/>
              </a:defRPr>
            </a:pPr>
            <a:r>
              <a:t>• Estimate wind and solar generation potential.</a:t>
            </a:r>
          </a:p>
          <a:p>
            <a:pPr>
              <a:spcAft>
                <a:spcPts val="800"/>
              </a:spcAft>
              <a:defRPr sz="1500">
                <a:solidFill>
                  <a:srgbClr val="272D35"/>
                </a:solidFill>
                <a:latin typeface="Aptos"/>
              </a:defRPr>
            </a:pPr>
            <a:r>
              <a:t>• Build a custom Renewable Volatility Stress Index.</a:t>
            </a:r>
          </a:p>
          <a:p>
            <a:pPr>
              <a:spcAft>
                <a:spcPts val="800"/>
              </a:spcAft>
              <a:defRPr sz="1500">
                <a:solidFill>
                  <a:srgbClr val="272D35"/>
                </a:solidFill>
                <a:latin typeface="Aptos"/>
              </a:defRPr>
            </a:pPr>
            <a:r>
              <a:t>• Classify instability risk into Low, Medium, High, and Critical.</a:t>
            </a:r>
          </a:p>
          <a:p>
            <a:pPr>
              <a:spcAft>
                <a:spcPts val="800"/>
              </a:spcAft>
              <a:defRPr sz="1500">
                <a:solidFill>
                  <a:srgbClr val="272D35"/>
                </a:solidFill>
                <a:latin typeface="Aptos"/>
              </a:defRPr>
            </a:pPr>
            <a:r>
              <a:t>• Expose results through a dashboard and API for demonstration.</a:t>
            </a:r>
          </a:p>
        </p:txBody>
      </p:sp>
      <p:pic>
        <p:nvPicPr>
          <p:cNvPr id="15" name="Picture 14" descr="12_wpi_vs_sii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3429000"/>
            <a:ext cx="4617720" cy="20574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8"/>
                </a:solidFill>
                <a:latin typeface="Aptos Display"/>
              </a:defRPr>
            </a:pPr>
            <a:r>
              <a:t>Implementation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C79"/>
                </a:solidFill>
                <a:latin typeface="Aptos"/>
              </a:defRPr>
            </a:pPr>
            <a:r>
              <a:t>A modular, cluster-ready pipeline with precomputed outputs for the final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4E97C4"/>
          </a:solidFill>
          <a:ln>
            <a:solidFill>
              <a:srgbClr val="4E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Raw CSV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Spark ETL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13632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Parquet</a:t>
            </a:r>
            <a:br/>
            <a:r>
              <a:t>HDFS 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86984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EFA837"/>
          </a:solidFill>
          <a:ln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Features</a:t>
            </a:r>
            <a:br/>
            <a:r>
              <a:t>+ labels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353312"/>
            <a:ext cx="1207008" cy="713232"/>
          </a:xfrm>
          <a:prstGeom prst="roundRect">
            <a:avLst>
              <a:gd name="adj" fmla="val 9000"/>
            </a:avLst>
          </a:prstGeom>
          <a:solidFill>
            <a:srgbClr val="122238"/>
          </a:solidFill>
          <a:ln>
            <a:solidFill>
              <a:srgbClr val="1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Dashboard</a:t>
            </a:r>
            <a:br/>
            <a:r>
              <a:t>+ API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73936" y="1719072"/>
            <a:ext cx="41148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447288" y="1719072"/>
            <a:ext cx="41148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1719072"/>
            <a:ext cx="41148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793992" y="1719072"/>
            <a:ext cx="41148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67344" y="1719072"/>
            <a:ext cx="41148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58368" y="2788920"/>
          <a:ext cx="5440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3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2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22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PySpark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clean, validate, transform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dirty="0"/>
                        <a:t>Parquet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partitioned fast reads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Modeling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RF, GBT, SARIMA, 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dirty="0"/>
                        <a:t>forecast and classify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Flask, Streamlit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rPr dirty="0"/>
                        <a:t>live demo and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720840" y="278892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64646"/>
                </a:solidFill>
                <a:latin typeface="Aptos"/>
              </a:defRPr>
            </a:pPr>
            <a:r>
              <a:t>Challenges handled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3182112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C64646"/>
                </a:solidFill>
                <a:latin typeface="Aptos"/>
              </a:defRPr>
            </a:pPr>
            <a:r>
              <a:t>Missing values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NASA -999 sentinels converted to nulls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3182112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EFA837"/>
                </a:solidFill>
                <a:latin typeface="Aptos"/>
              </a:defRPr>
            </a:pPr>
            <a:r>
              <a:t>Time features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hour, month, lags, rolling windows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3434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1F8476"/>
                </a:solidFill>
                <a:latin typeface="Aptos"/>
              </a:defRPr>
            </a:pPr>
            <a:r>
              <a:t>Long runtime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saved plots, parquet, and trained outputs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4343400"/>
            <a:ext cx="2011680" cy="822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>
            <a:solidFill>
              <a:srgbClr val="4E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rIns="128016" rtlCol="0" anchor="ctr"/>
          <a:lstStyle/>
          <a:p>
            <a:pPr algn="ctr">
              <a:defRPr sz="1200" b="1">
                <a:solidFill>
                  <a:srgbClr val="4E97C4"/>
                </a:solidFill>
                <a:latin typeface="Aptos"/>
              </a:defRPr>
            </a:pPr>
            <a:r>
              <a:t>Scalability</a:t>
            </a:r>
          </a:p>
          <a:p>
            <a:pPr>
              <a:defRPr sz="900">
                <a:solidFill>
                  <a:srgbClr val="606C79"/>
                </a:solidFill>
                <a:latin typeface="Aptos"/>
              </a:defRPr>
            </a:pPr>
            <a:r>
              <a:t>Spark design can move to a cluster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8"/>
                </a:solidFill>
                <a:latin typeface="Aptos Display"/>
              </a:defRPr>
            </a:pPr>
            <a:r>
              <a:t>Results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C79"/>
                </a:solidFill>
                <a:latin typeface="Aptos"/>
              </a:defRPr>
            </a:pPr>
            <a:r>
              <a:t>Model outputs and visual analysis are precomputed for a smooth demonstration</a:t>
            </a:r>
          </a:p>
        </p:txBody>
      </p:sp>
      <p:pic>
        <p:nvPicPr>
          <p:cNvPr id="4" name="Picture 3" descr="model_perform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124712"/>
            <a:ext cx="4892040" cy="2212848"/>
          </a:xfrm>
          <a:prstGeom prst="rect">
            <a:avLst/>
          </a:prstGeom>
        </p:spPr>
      </p:pic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04672" y="3822191"/>
          <a:ext cx="425196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5" descr="11_rvsi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51560"/>
            <a:ext cx="2926080" cy="2331720"/>
          </a:xfrm>
          <a:prstGeom prst="rect">
            <a:avLst/>
          </a:prstGeom>
        </p:spPr>
      </p:pic>
      <p:pic>
        <p:nvPicPr>
          <p:cNvPr id="7" name="Picture 6" descr="03_correlation_heat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1051560"/>
            <a:ext cx="251460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89320" y="3977639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GBT regression: RMSE around 0.14, R2 around 0.80.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Risk classifiers: accuracy/F1 around 85%+.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RVSI separates low and high volatility periods for the dashboard.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28600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2238"/>
                </a:solidFill>
                <a:latin typeface="Aptos Display"/>
              </a:defRPr>
            </a:pPr>
            <a:r>
              <a:t>Demo Storyline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768096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6C79"/>
                </a:solidFill>
                <a:latin typeface="Aptos"/>
              </a:defRPr>
            </a:pPr>
            <a:r>
              <a:t>Keep the slides short, then spend most time showing the working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2331720" cy="658368"/>
          </a:xfrm>
          <a:prstGeom prst="roundRect">
            <a:avLst>
              <a:gd name="adj" fmla="val 9000"/>
            </a:avLst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1.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01568" y="1325880"/>
            <a:ext cx="2331720" cy="658368"/>
          </a:xfrm>
          <a:prstGeom prst="roundRect">
            <a:avLst>
              <a:gd name="adj" fmla="val 9000"/>
            </a:avLst>
          </a:prstGeom>
          <a:solidFill>
            <a:srgbClr val="EFA837"/>
          </a:solidFill>
          <a:ln>
            <a:solidFill>
              <a:srgbClr val="EFA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2.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325880"/>
            <a:ext cx="2331720" cy="658368"/>
          </a:xfrm>
          <a:prstGeom prst="roundRect">
            <a:avLst>
              <a:gd name="adj" fmla="val 9000"/>
            </a:avLst>
          </a:prstGeom>
          <a:solidFill>
            <a:srgbClr val="C64646"/>
          </a:solidFill>
          <a:ln>
            <a:solidFill>
              <a:srgbClr val="C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3. Code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44952" y="1655064"/>
            <a:ext cx="32004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33288" y="1655064"/>
            <a:ext cx="320040" cy="0"/>
          </a:xfrm>
          <a:prstGeom prst="line">
            <a:avLst/>
          </a:prstGeom>
          <a:ln w="19050">
            <a:solidFill>
              <a:srgbClr val="606C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2423160"/>
            <a:ext cx="75895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Show Overview, EDA, Risk Analysis, and Interactive Forecast.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Use one weather input and explain WPI, SII, RVSI, and risk class.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Open src modules, API, dashboard, tests, and saved model folders.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25880"/>
            <a:ext cx="2331720" cy="658368"/>
          </a:xfrm>
          <a:prstGeom prst="roundRect">
            <a:avLst>
              <a:gd name="adj" fmla="val 9000"/>
            </a:avLst>
          </a:prstGeom>
          <a:solidFill>
            <a:srgbClr val="122238"/>
          </a:solidFill>
          <a:ln>
            <a:solidFill>
              <a:srgbClr val="1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Before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8552" y="2286000"/>
            <a:ext cx="2651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272D35"/>
                </a:solidFill>
                <a:latin typeface="Aptos"/>
              </a:defRPr>
            </a:pPr>
            <a:r>
              <a:t>• Keep long jobs pre-run.</a:t>
            </a:r>
          </a:p>
          <a:p>
            <a:pPr>
              <a:spcAft>
                <a:spcPts val="800"/>
              </a:spcAft>
              <a:defRPr sz="1200">
                <a:solidFill>
                  <a:srgbClr val="272D35"/>
                </a:solidFill>
                <a:latin typeface="Aptos"/>
              </a:defRPr>
            </a:pPr>
            <a:r>
              <a:t>• Open PPT, dashboard, API, and notebook.</a:t>
            </a:r>
          </a:p>
          <a:p>
            <a:pPr>
              <a:spcAft>
                <a:spcPts val="800"/>
              </a:spcAft>
              <a:defRPr sz="1200">
                <a:solidFill>
                  <a:srgbClr val="272D35"/>
                </a:solidFill>
                <a:latin typeface="Aptos"/>
              </a:defRPr>
            </a:pPr>
            <a:r>
              <a:t>• Practice once with a timer.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17720"/>
            <a:ext cx="2331720" cy="658368"/>
          </a:xfrm>
          <a:prstGeom prst="roundRect">
            <a:avLst>
              <a:gd name="adj" fmla="val 9000"/>
            </a:avLst>
          </a:prstGeom>
          <a:solidFill>
            <a:srgbClr val="4E97C4"/>
          </a:solidFill>
          <a:ln>
            <a:solidFill>
              <a:srgbClr val="4E9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572000"/>
            <a:ext cx="6263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Spark Structured Streaming for live sensor data.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Multi-region UK and Ireland forecasting.</a:t>
            </a:r>
          </a:p>
          <a:p>
            <a:pPr>
              <a:spcAft>
                <a:spcPts val="800"/>
              </a:spcAft>
              <a:defRPr sz="1400">
                <a:solidFill>
                  <a:srgbClr val="272D35"/>
                </a:solidFill>
                <a:latin typeface="Aptos"/>
              </a:defRPr>
            </a:pPr>
            <a:r>
              <a:t>• Cloud deployment and real grid validation.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1F8476"/>
          </a:solidFill>
          <a:ln>
            <a:solidFill>
              <a:srgbClr val="1F84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27080" y="6601968"/>
            <a:ext cx="822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6C79"/>
                </a:solidFill>
              </a:defRPr>
            </a:pPr>
            <a: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467</Words>
  <Application>Microsoft Office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Ashutosh Sharma</cp:lastModifiedBy>
  <cp:revision>2</cp:revision>
  <dcterms:created xsi:type="dcterms:W3CDTF">2013-01-27T09:14:16Z</dcterms:created>
  <dcterms:modified xsi:type="dcterms:W3CDTF">2026-05-20T16:45:58Z</dcterms:modified>
  <cp:category/>
</cp:coreProperties>
</file>